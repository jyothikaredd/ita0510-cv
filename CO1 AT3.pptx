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Alexandria Medium" panose="020B0604020202020204" charset="-78"/>
      <p:regular r:id="rId9"/>
    </p:embeddedFon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Manrope" panose="020B0604020202020204" charset="0"/>
      <p:regular r:id="rId14"/>
    </p:embeddedFont>
    <p:embeddedFont>
      <p:font typeface="Manrope Bold" panose="020B0604020202020204" charset="0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509" y="348188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Digital Grayscale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871144" y="791051"/>
            <a:ext cx="4722763" cy="18341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Principles, Challenges, and Precision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3582665"/>
            <a:ext cx="472276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6" name="Text Box 5"/>
          <p:cNvSpPr txBox="1"/>
          <p:nvPr/>
        </p:nvSpPr>
        <p:spPr>
          <a:xfrm>
            <a:off x="5418455" y="3290485"/>
            <a:ext cx="3048000" cy="507831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en-US" sz="1350" b="1" dirty="0">
                <a:latin typeface="Arial" panose="020B0604020202020204" pitchFamily="34" charset="0"/>
                <a:ea typeface="Microsoft YaHei" panose="020B0503020204020204" charset="-122"/>
              </a:rPr>
              <a:t>Presented by:</a:t>
            </a:r>
          </a:p>
          <a:p>
            <a:pPr algn="l"/>
            <a:r>
              <a:rPr lang="en-US" sz="1350" b="1" dirty="0">
                <a:latin typeface="Arial" panose="020B0604020202020204" pitchFamily="34" charset="0"/>
                <a:ea typeface="Microsoft YaHei" panose="020B0503020204020204" charset="-122"/>
              </a:rPr>
              <a:t>P JYOTHIKA REDDY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10" y="4765040"/>
            <a:ext cx="3057525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9816"/>
            <a:ext cx="8151763" cy="408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Defining the Monochrome Image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35" y="1396365"/>
            <a:ext cx="4177665" cy="2939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838" y="887259"/>
            <a:ext cx="2645866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Mathematical Model</a:t>
            </a:r>
            <a:endParaRPr lang="en-US" sz="1250" b="1" dirty="0"/>
          </a:p>
        </p:txBody>
      </p:sp>
      <p:sp>
        <p:nvSpPr>
          <p:cNvPr id="5" name="Text 2"/>
          <p:cNvSpPr/>
          <p:nvPr/>
        </p:nvSpPr>
        <p:spPr>
          <a:xfrm>
            <a:off x="6002258" y="1140733"/>
            <a:ext cx="2645866" cy="8033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grayscale image is a 2D function: </a:t>
            </a:r>
            <a:r>
              <a:rPr lang="en-US" sz="1400" b="1" dirty="0">
                <a:solidFill>
                  <a:schemeClr val="tx1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f(x,y) = illumination × reflectance</a:t>
            </a: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Each pixel holds an intensity value from </a:t>
            </a:r>
            <a:r>
              <a:rPr lang="en-US" sz="1400" b="1" dirty="0">
                <a:solidFill>
                  <a:schemeClr val="tx1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0 (black)</a:t>
            </a: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</a:t>
            </a:r>
            <a:r>
              <a:rPr lang="en-US" sz="1400" b="1" dirty="0">
                <a:solidFill>
                  <a:schemeClr val="tx1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255 (white)</a:t>
            </a: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standard 8-bit images.</a:t>
            </a:r>
          </a:p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*No Blur and Better Contrast</a:t>
            </a:r>
          </a:p>
        </p:txBody>
      </p:sp>
      <p:sp>
        <p:nvSpPr>
          <p:cNvPr id="6" name="Text 3"/>
          <p:cNvSpPr/>
          <p:nvPr/>
        </p:nvSpPr>
        <p:spPr>
          <a:xfrm>
            <a:off x="6091158" y="2796738"/>
            <a:ext cx="2645866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Digitization in Two Steps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91158" y="3065453"/>
            <a:ext cx="2645866" cy="8454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Sampling</a:t>
            </a: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spatial grid placement of pixels</a:t>
            </a:r>
            <a:endParaRPr lang="en-US" sz="12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Quantization</a:t>
            </a: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assigning amplitude levels</a:t>
            </a:r>
          </a:p>
        </p:txBody>
      </p:sp>
      <p:sp>
        <p:nvSpPr>
          <p:cNvPr id="8" name="Shape 5"/>
          <p:cNvSpPr/>
          <p:nvPr/>
        </p:nvSpPr>
        <p:spPr>
          <a:xfrm>
            <a:off x="6091158" y="3974063"/>
            <a:ext cx="2645866" cy="884709"/>
          </a:xfrm>
          <a:prstGeom prst="roundRect">
            <a:avLst>
              <a:gd name="adj" fmla="val 22158"/>
            </a:avLst>
          </a:prstGeom>
          <a:solidFill>
            <a:srgbClr val="CDEFFE"/>
          </a:solidFill>
        </p:spPr>
      </p:sp>
      <p:sp>
        <p:nvSpPr>
          <p:cNvPr id="10" name="Text 6"/>
          <p:cNvSpPr/>
          <p:nvPr/>
        </p:nvSpPr>
        <p:spPr>
          <a:xfrm>
            <a:off x="6431384" y="4114517"/>
            <a:ext cx="2090514" cy="6025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Black velvet reflects ~0.01; snow reflects ~0.93 — yet both must be faithfully represented.</a:t>
            </a:r>
            <a:endParaRPr lang="en-US" sz="1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465" y="4810125"/>
            <a:ext cx="3057525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6925"/>
            <a:ext cx="4722763" cy="7058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Practical Limitations and Distortions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237804"/>
            <a:ext cx="4722763" cy="8096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0517" y="1365052"/>
            <a:ext cx="441111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Device Inconsistency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80517" y="1595512"/>
            <a:ext cx="4411117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Displays vary in maximum luminance and respond differently to ambient light, causing the same image to appear different across monitors.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137470"/>
            <a:ext cx="4722763" cy="8096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0517" y="2264718"/>
            <a:ext cx="441111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Hardcopy vs. Softcopy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80517" y="2495178"/>
            <a:ext cx="4411117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Printed film and digital monitors often yield conflicting visual results, complicating cross-referencing in clinical workflows.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037136"/>
            <a:ext cx="4722763" cy="8096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0517" y="3164384"/>
            <a:ext cx="441111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Dynamic Range Issues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80517" y="3394844"/>
            <a:ext cx="4411117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 perception is non-linear — not all intensity levels are equally visible, especially at the extremes of the grayscale.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936802"/>
            <a:ext cx="4722763" cy="80969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0517" y="4064050"/>
            <a:ext cx="4411117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Diagnostic Stakes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80517" y="4294510"/>
            <a:ext cx="4411117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Inconsistent rendering can obscure clinical masses or critical features, directly impacting patient outcomes.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062"/>
            <a:ext cx="8151763" cy="339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Analytical Tools and Enhancements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96119" y="984349"/>
            <a:ext cx="2680990" cy="785664"/>
          </a:xfrm>
          <a:prstGeom prst="roundRect">
            <a:avLst>
              <a:gd name="adj" fmla="val 2072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377" y="1097607"/>
            <a:ext cx="245447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Contrast Manipulation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377" y="1350169"/>
            <a:ext cx="245447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Functions like </a:t>
            </a:r>
            <a:r>
              <a:rPr lang="en-US" sz="850" dirty="0">
                <a:solidFill>
                  <a:srgbClr val="000000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imadjust</a:t>
            </a: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remap intensity ranges to improve visibility.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96119" y="1853059"/>
            <a:ext cx="2680990" cy="785664"/>
          </a:xfrm>
          <a:prstGeom prst="roundRect">
            <a:avLst>
              <a:gd name="adj" fmla="val 2072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377" y="1966317"/>
            <a:ext cx="245447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Histogram Techniques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377" y="2218879"/>
            <a:ext cx="245447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Stretching or equalizing distributions flattens contrast and reveals hidden detail.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6119" y="2721769"/>
            <a:ext cx="2680990" cy="785664"/>
          </a:xfrm>
          <a:prstGeom prst="roundRect">
            <a:avLst>
              <a:gd name="adj" fmla="val 2072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377" y="2835027"/>
            <a:ext cx="245447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Logarithmic Transforms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377" y="3087588"/>
            <a:ext cx="245447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Compresses wide dynamic ranges into a viewable spectrum.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6119" y="3590479"/>
            <a:ext cx="2680990" cy="785664"/>
          </a:xfrm>
          <a:prstGeom prst="roundRect">
            <a:avLst>
              <a:gd name="adj" fmla="val 2072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377" y="3703737"/>
            <a:ext cx="245447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Spatial Processing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9377" y="3956298"/>
            <a:ext cx="245447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Local operators modify pixels based on their surrounding neighbourhood.</a:t>
            </a:r>
            <a:endParaRPr lang="en-US" sz="8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636" y="1205210"/>
            <a:ext cx="5205933" cy="294999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6119" y="4563070"/>
            <a:ext cx="8608963" cy="1532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tools transform raw grayscale data into diagnostically useful images by correcting for capture limitations and display constraints.</a:t>
            </a:r>
            <a:endParaRPr lang="en-US" sz="85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740" y="4810125"/>
            <a:ext cx="3057525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9891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Standardization: The Modern Era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56395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451571"/>
            <a:ext cx="190500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DICOM GSDF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758083"/>
            <a:ext cx="1905000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Grayscale Standard Display Function creates a 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perceptually linear curve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ensuring uniform output regardless of hardware.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56395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451571"/>
            <a:ext cx="190507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Presentation States (GSPS)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979539"/>
            <a:ext cx="1905074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Objects that store rendering parameters, annotations, and spatial transforms 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separately from the image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itself.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56395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451571"/>
            <a:ext cx="190507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Calibration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758083"/>
            <a:ext cx="1905074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Mandatory hardware adjustment to the GSDF curve ensures 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vendor-neutral consistency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across all displays.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56395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451571"/>
            <a:ext cx="190507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Hanging Protocols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758083"/>
            <a:ext cx="1905074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instructions enforce </a:t>
            </a: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consistent layout and orientation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across every workstation in the network.</a:t>
            </a:r>
            <a:endParaRPr lang="en-US" sz="11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475" y="4739640"/>
            <a:ext cx="3057525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9231"/>
            <a:ext cx="4722763" cy="81676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Precision as the Clinical Standard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4083" y="1400733"/>
            <a:ext cx="196007" cy="1960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49800" y="1396678"/>
            <a:ext cx="429808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Consistency is not automatic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349800" y="1673051"/>
            <a:ext cx="4298082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Digital reliability demands strict calibration and standardized metadata at every stage of the imaging chain.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4083" y="2319747"/>
            <a:ext cx="196007" cy="1960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49800" y="2315691"/>
            <a:ext cx="429808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Rethink the image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349800" y="2592065"/>
            <a:ext cx="4298082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Shift from viewing images as static files to treating them as </a:t>
            </a: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calibrated, reproducible data states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4083" y="3238760"/>
            <a:ext cx="196007" cy="1960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49800" y="3234705"/>
            <a:ext cx="429808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Next-generation focus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349800" y="3511079"/>
            <a:ext cx="4298082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Managing color-blended and fusion imaging alongside grayscale diagnostics is the emerging frontier.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3925119" y="4055894"/>
            <a:ext cx="4722763" cy="695920"/>
          </a:xfrm>
          <a:prstGeom prst="roundRect">
            <a:avLst>
              <a:gd name="adj" fmla="val 28170"/>
            </a:avLst>
          </a:prstGeom>
          <a:solidFill>
            <a:srgbClr val="CDEFFE"/>
          </a:solidFill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5790" y="4235351"/>
            <a:ext cx="163339" cy="13067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49800" y="4201418"/>
            <a:ext cx="4167411" cy="4016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Call to Action:</a:t>
            </a: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Audit your display workflows against GSDF standards to ensure absolute diagnostic reliability.</a:t>
            </a:r>
            <a:endParaRPr lang="en-US" sz="10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475" y="4810125"/>
            <a:ext cx="3057525" cy="333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On-screen Show (16:9)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Manrope Bold</vt:lpstr>
      <vt:lpstr>Consolas</vt:lpstr>
      <vt:lpstr>Alexandria Medium</vt:lpstr>
      <vt:lpstr>Calibri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JYOTHIKA REDDY</dc:creator>
  <cp:lastModifiedBy>JYOTHIKA REDDY</cp:lastModifiedBy>
  <cp:revision>4</cp:revision>
  <dcterms:created xsi:type="dcterms:W3CDTF">2026-07-27T08:50:00Z</dcterms:created>
  <dcterms:modified xsi:type="dcterms:W3CDTF">2026-08-05T09:04:19Z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A7B899C31DB845F8BAAC0580E333F610_13</vt:lpwstr>
  </property>
</Properties>
</file>